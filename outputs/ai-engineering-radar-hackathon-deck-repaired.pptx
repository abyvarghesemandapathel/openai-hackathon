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y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</p:spPr>
        <p:txBody>
          <a:bodyPr/>
          <a:lstStyle/>
          <a:p/>
        </p:txBody>
      </p:sp>
      <p:sp>
        <p:nvSpPr>
          <p:cNvPr id="3" name="blue accent"/>
          <p:cNvSpPr/>
          <p:nvPr/>
        </p:nvSpPr>
        <p:spPr>
          <a:xfrm>
            <a:off x="685800" y="742950"/>
            <a:ext cx="819150" cy="76200"/>
          </a:xfrm>
          <a:prstGeom prst="rect">
            <a:avLst/>
          </a:prstGeom>
          <a:solidFill>
            <a:srgbClr val="146EF5"/>
          </a:solidFill>
          <a:ln w="9525">
            <a:solidFill>
              <a:srgbClr val="146EF5"/>
            </a:solidFill>
          </a:ln>
        </p:spPr>
        <p:txBody>
          <a:bodyPr/>
          <a:lstStyle/>
          <a:p/>
        </p:txBody>
      </p:sp>
      <p:sp>
        <p:nvSpPr>
          <p:cNvPr id="4" name="product category"/>
          <p:cNvSpPr txBox="1"/>
          <p:nvPr/>
        </p:nvSpPr>
        <p:spPr>
          <a:xfrm>
            <a:off x="685800" y="1028700"/>
            <a:ext cx="533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500" b="1">
                <a:solidFill>
                  <a:srgbClr val="64B5FF"/>
                </a:solidFill>
                <a:latin typeface="Aptos"/>
              </a:rPr>
              <a:t>HACKATHON PROJECT | VS CODE EXTENSION</a:t>
            </a:r>
            <a:endParaRPr lang="en-US" sz="1500"/>
          </a:p>
        </p:txBody>
      </p:sp>
      <p:sp>
        <p:nvSpPr>
          <p:cNvPr id="5" name="product name"/>
          <p:cNvSpPr txBox="1"/>
          <p:nvPr/>
        </p:nvSpPr>
        <p:spPr>
          <a:xfrm>
            <a:off x="685800" y="1562100"/>
            <a:ext cx="95250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5400" b="1">
                <a:solidFill>
                  <a:srgbClr val="FFFFFF"/>
                </a:solidFill>
                <a:latin typeface="Aptos"/>
              </a:rPr>
              <a:t>AI Engineering Radar</a:t>
            </a:r>
            <a:endParaRPr lang="en-US" sz="5400"/>
          </a:p>
        </p:txBody>
      </p:sp>
      <p:sp>
        <p:nvSpPr>
          <p:cNvPr id="6" name="product promise"/>
          <p:cNvSpPr txBox="1"/>
          <p:nvPr/>
        </p:nvSpPr>
        <p:spPr>
          <a:xfrm>
            <a:off x="685800" y="2628900"/>
            <a:ext cx="9144000" cy="704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2800">
                <a:solidFill>
                  <a:srgbClr val="DCE8F7"/>
                </a:solidFill>
                <a:latin typeface="Aptos"/>
              </a:rPr>
              <a:t>Engineering context before you change a line of code.</a:t>
            </a:r>
            <a:endParaRPr lang="en-US" sz="2800"/>
          </a:p>
        </p:txBody>
      </p:sp>
      <p:sp>
        <p:nvSpPr>
          <p:cNvPr id="7" name="statement rule"/>
          <p:cNvSpPr/>
          <p:nvPr/>
        </p:nvSpPr>
        <p:spPr>
          <a:xfrm>
            <a:off x="685800" y="3714750"/>
            <a:ext cx="9563100" cy="19050"/>
          </a:xfrm>
          <a:prstGeom prst="rect">
            <a:avLst/>
          </a:prstGeom>
          <a:solidFill>
            <a:srgbClr val="31506F"/>
          </a:solidFill>
          <a:ln w="9525">
            <a:solidFill>
              <a:srgbClr val="31506F"/>
            </a:solidFill>
          </a:ln>
        </p:spPr>
        <p:txBody>
          <a:bodyPr/>
          <a:lstStyle/>
          <a:p/>
        </p:txBody>
      </p:sp>
      <p:sp>
        <p:nvSpPr>
          <p:cNvPr id="8" name="product description"/>
          <p:cNvSpPr txBox="1"/>
          <p:nvPr/>
        </p:nvSpPr>
        <p:spPr>
          <a:xfrm>
            <a:off x="685800" y="4076700"/>
            <a:ext cx="88582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2100">
                <a:solidFill>
                  <a:srgbClr val="DCE8F7"/>
                </a:solidFill>
                <a:latin typeface="Aptos"/>
              </a:rPr>
              <a:t>A lightweight AI staff-engineer companion that analyzes the active file and surfaces the context needed to make a confident next move.</a:t>
            </a:r>
            <a:endParaRPr lang="en-US" sz="2100"/>
          </a:p>
        </p:txBody>
      </p:sp>
      <p:sp>
        <p:nvSpPr>
          <p:cNvPr id="9" name="product inputs"/>
          <p:cNvSpPr txBox="1"/>
          <p:nvPr/>
        </p:nvSpPr>
        <p:spPr>
          <a:xfrm>
            <a:off x="685800" y="5581650"/>
            <a:ext cx="88582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600">
                <a:solidFill>
                  <a:srgbClr val="8FA8C4"/>
                </a:solidFill>
                <a:latin typeface="Aptos"/>
              </a:rPr>
              <a:t>Git history  |  Contributors  |  Pull requests  |  Risk signals  |  Recommended tests</a:t>
            </a:r>
            <a:endParaRPr lang="en-US" sz="1600"/>
          </a:p>
        </p:txBody>
      </p:sp>
      <p:sp>
        <p:nvSpPr>
          <p:cNvPr id="99" name="slide number"/>
          <p:cNvSpPr txBox="1"/>
          <p:nvPr/>
        </p:nvSpPr>
        <p:spPr>
          <a:xfrm>
            <a:off x="10763250" y="6286500"/>
            <a:ext cx="6858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300" b="1">
                <a:solidFill>
                  <a:srgbClr val="8FA8C4"/>
                </a:solidFill>
                <a:latin typeface="Aptos"/>
              </a:rPr>
              <a:t>01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accent"/>
          <p:cNvSpPr/>
          <p:nvPr/>
        </p:nvSpPr>
        <p:spPr>
          <a:xfrm>
            <a:off x="609600" y="457200"/>
            <a:ext cx="609600" cy="57150"/>
          </a:xfrm>
          <a:prstGeom prst="rect">
            <a:avLst/>
          </a:prstGeom>
          <a:solidFill>
            <a:srgbClr val="146EF5"/>
          </a:solidFill>
          <a:ln w="9525">
            <a:solidFill>
              <a:srgbClr val="146EF5"/>
            </a:solidFill>
          </a:ln>
        </p:spPr>
        <p:txBody>
          <a:bodyPr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62865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500" b="1">
                <a:solidFill>
                  <a:srgbClr val="146EF5"/>
                </a:solidFill>
                <a:latin typeface="Aptos"/>
              </a:rPr>
              <a:t>THE DEVELOPER PROBLEM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609600" y="990600"/>
            <a:ext cx="104775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3000" b="1">
                <a:solidFill>
                  <a:srgbClr val="0B1F3A"/>
                </a:solidFill>
                <a:latin typeface="Aptos"/>
              </a:rPr>
              <a:t>The context needed to make a safe change is scattered.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609600" y="1866900"/>
            <a:ext cx="98107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800">
                <a:solidFill>
                  <a:srgbClr val="52657D"/>
                </a:solidFill>
                <a:latin typeface="Aptos"/>
              </a:rPr>
              <a:t>Before coding, developers must reconstruct history, ownership, active work, and test impact from several places.</a:t>
            </a:r>
            <a:endParaRPr lang="en-US" sz="1800"/>
          </a:p>
        </p:txBody>
      </p:sp>
      <p:sp>
        <p:nvSpPr>
          <p:cNvPr id="10" name="problem panel"/>
          <p:cNvSpPr/>
          <p:nvPr/>
        </p:nvSpPr>
        <p:spPr>
          <a:xfrm>
            <a:off x="609600" y="2781300"/>
            <a:ext cx="5086350" cy="2419350"/>
          </a:xfrm>
          <a:prstGeom prst="rect">
            <a:avLst/>
          </a:prstGeom>
          <a:solidFill>
            <a:srgbClr val="F1F6FC"/>
          </a:solidFill>
          <a:ln w="9525">
            <a:solidFill>
              <a:srgbClr val="D7E3F0"/>
            </a:solidFill>
          </a:ln>
        </p:spPr>
        <p:txBody>
          <a:bodyPr/>
          <a:lstStyle/>
          <a:p/>
        </p:txBody>
      </p:sp>
      <p:sp>
        <p:nvSpPr>
          <p:cNvPr id="11" name="problem panel headline"/>
          <p:cNvSpPr txBox="1"/>
          <p:nvPr/>
        </p:nvSpPr>
        <p:spPr>
          <a:xfrm>
            <a:off x="895350" y="3124200"/>
            <a:ext cx="4381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2600" b="1">
                <a:solidFill>
                  <a:srgbClr val="0B1F3A"/>
                </a:solidFill>
                <a:latin typeface="Aptos"/>
              </a:rPr>
              <a:t>Before the first edit, a developer needs answers.</a:t>
            </a:r>
            <a:endParaRPr lang="en-US" sz="2600"/>
          </a:p>
        </p:txBody>
      </p:sp>
      <p:sp>
        <p:nvSpPr>
          <p:cNvPr id="12" name="problem questions"/>
          <p:cNvSpPr txBox="1"/>
          <p:nvPr/>
        </p:nvSpPr>
        <p:spPr>
          <a:xfrm>
            <a:off x="895350" y="3848100"/>
            <a:ext cx="4286250" cy="1047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800">
                <a:solidFill>
                  <a:srgbClr val="222222"/>
                </a:solidFill>
                <a:latin typeface="Aptos"/>
              </a:rPr>
              <a:t>- What changed here recently?
- Who is already working in this area?
- What should be reviewed and tested?</a:t>
            </a:r>
            <a:endParaRPr lang="en-US" sz="1800"/>
          </a:p>
        </p:txBody>
      </p:sp>
      <p:sp>
        <p:nvSpPr>
          <p:cNvPr id="13" name="outcome panel"/>
          <p:cNvSpPr/>
          <p:nvPr/>
        </p:nvSpPr>
        <p:spPr>
          <a:xfrm>
            <a:off x="6019800" y="2781300"/>
            <a:ext cx="4953000" cy="241935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</p:spPr>
        <p:txBody>
          <a:bodyPr/>
          <a:lstStyle/>
          <a:p/>
        </p:txBody>
      </p:sp>
      <p:sp>
        <p:nvSpPr>
          <p:cNvPr id="14" name="outcome label"/>
          <p:cNvSpPr txBox="1"/>
          <p:nvPr/>
        </p:nvSpPr>
        <p:spPr>
          <a:xfrm>
            <a:off x="6343650" y="3143250"/>
            <a:ext cx="3714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400" b="1">
                <a:solidFill>
                  <a:srgbClr val="64B5FF"/>
                </a:solidFill>
                <a:latin typeface="Aptos"/>
              </a:rPr>
              <a:t>THE COST OF MISSING CONTEXT</a:t>
            </a:r>
            <a:endParaRPr lang="en-US" sz="1400"/>
          </a:p>
        </p:txBody>
      </p:sp>
      <p:sp>
        <p:nvSpPr>
          <p:cNvPr id="15" name="outcome statement"/>
          <p:cNvSpPr txBox="1"/>
          <p:nvPr/>
        </p:nvSpPr>
        <p:spPr>
          <a:xfrm>
            <a:off x="6343650" y="3619500"/>
            <a:ext cx="4038600" cy="9334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2900" b="1">
                <a:solidFill>
                  <a:srgbClr val="FFFFFF"/>
                </a:solidFill>
                <a:latin typeface="Aptos"/>
              </a:rPr>
              <a:t>Engineering decisions start with navigation, not understanding.</a:t>
            </a:r>
            <a:endParaRPr lang="en-US" sz="2900"/>
          </a:p>
        </p:txBody>
      </p:sp>
      <p:sp>
        <p:nvSpPr>
          <p:cNvPr id="16" name="outcome detail"/>
          <p:cNvSpPr txBox="1"/>
          <p:nvPr/>
        </p:nvSpPr>
        <p:spPr>
          <a:xfrm>
            <a:off x="6343650" y="4762500"/>
            <a:ext cx="39433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600">
                <a:solidFill>
                  <a:srgbClr val="B8CAE0"/>
                </a:solidFill>
                <a:latin typeface="Aptos"/>
              </a:rPr>
              <a:t>Risk and overlap are discovered later than they need to be.</a:t>
            </a:r>
            <a:endParaRPr lang="en-US" sz="1600"/>
          </a:p>
        </p:txBody>
      </p:sp>
      <p:sp>
        <p:nvSpPr>
          <p:cNvPr id="99" name="slide number"/>
          <p:cNvSpPr txBox="1"/>
          <p:nvPr/>
        </p:nvSpPr>
        <p:spPr>
          <a:xfrm>
            <a:off x="10763250" y="6286500"/>
            <a:ext cx="6858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300" b="1">
                <a:solidFill>
                  <a:srgbClr val="6B7A90"/>
                </a:solidFill>
                <a:latin typeface="Aptos"/>
              </a:rPr>
              <a:t>02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accent"/>
          <p:cNvSpPr/>
          <p:nvPr/>
        </p:nvSpPr>
        <p:spPr>
          <a:xfrm>
            <a:off x="609600" y="457200"/>
            <a:ext cx="609600" cy="57150"/>
          </a:xfrm>
          <a:prstGeom prst="rect">
            <a:avLst/>
          </a:prstGeom>
          <a:solidFill>
            <a:srgbClr val="146EF5"/>
          </a:solidFill>
          <a:ln w="9525">
            <a:solidFill>
              <a:srgbClr val="146EF5"/>
            </a:solidFill>
          </a:ln>
        </p:spPr>
        <p:txBody>
          <a:bodyPr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62865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500" b="1">
                <a:solidFill>
                  <a:srgbClr val="146EF5"/>
                </a:solidFill>
                <a:latin typeface="Aptos"/>
              </a:rPr>
              <a:t>THE PRODUCT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609600" y="990600"/>
            <a:ext cx="104775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3000" b="1">
                <a:solidFill>
                  <a:srgbClr val="0B1F3A"/>
                </a:solidFill>
                <a:latin typeface="Aptos"/>
              </a:rPr>
              <a:t>One command turns repository signals into an engineering brief.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609600" y="1866900"/>
            <a:ext cx="98107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800">
                <a:solidFill>
                  <a:srgbClr val="52657D"/>
                </a:solidFill>
                <a:latin typeface="Aptos"/>
              </a:rPr>
              <a:t>Run AI Radar: Analyze Current File from VS Code to assemble the information that matters for the file in focus.</a:t>
            </a:r>
            <a:endParaRPr lang="en-US" sz="1800"/>
          </a:p>
        </p:txBody>
      </p:sp>
      <p:sp>
        <p:nvSpPr>
          <p:cNvPr id="10" name="input band"/>
          <p:cNvSpPr/>
          <p:nvPr/>
        </p:nvSpPr>
        <p:spPr>
          <a:xfrm>
            <a:off x="609600" y="2895600"/>
            <a:ext cx="2266950" cy="2076450"/>
          </a:xfrm>
          <a:prstGeom prst="rect">
            <a:avLst/>
          </a:prstGeom>
          <a:solidFill>
            <a:srgbClr val="F1F6FC"/>
          </a:solidFill>
          <a:ln w="9525">
            <a:solidFill>
              <a:srgbClr val="D7E3F0"/>
            </a:solidFill>
          </a:ln>
        </p:spPr>
        <p:txBody>
          <a:bodyPr/>
          <a:lstStyle/>
          <a:p/>
        </p:txBody>
      </p:sp>
      <p:sp>
        <p:nvSpPr>
          <p:cNvPr id="11" name="input title"/>
          <p:cNvSpPr txBox="1"/>
          <p:nvPr/>
        </p:nvSpPr>
        <p:spPr>
          <a:xfrm>
            <a:off x="838200" y="31813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2000" b="1">
                <a:solidFill>
                  <a:srgbClr val="0B1F3A"/>
                </a:solidFill>
                <a:latin typeface="Aptos"/>
              </a:rPr>
              <a:t>Repository signals</a:t>
            </a:r>
            <a:endParaRPr lang="en-US" sz="2000"/>
          </a:p>
        </p:txBody>
      </p:sp>
      <p:sp>
        <p:nvSpPr>
          <p:cNvPr id="12" name="input items"/>
          <p:cNvSpPr txBox="1"/>
          <p:nvPr/>
        </p:nvSpPr>
        <p:spPr>
          <a:xfrm>
            <a:off x="838200" y="3638550"/>
            <a:ext cx="1752600" cy="990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600">
                <a:solidFill>
                  <a:srgbClr val="222222"/>
                </a:solidFill>
                <a:latin typeface="Aptos"/>
              </a:rPr>
              <a:t>Git history
Git blame
Working tree status
Optional GitHub PR context</a:t>
            </a:r>
            <a:endParaRPr lang="en-US" sz="1600"/>
          </a:p>
        </p:txBody>
      </p:sp>
      <p:sp>
        <p:nvSpPr>
          <p:cNvPr id="13" name="process line"/>
          <p:cNvSpPr/>
          <p:nvPr/>
        </p:nvSpPr>
        <p:spPr>
          <a:xfrm>
            <a:off x="3105150" y="3905250"/>
            <a:ext cx="1314450" cy="38100"/>
          </a:xfrm>
          <a:prstGeom prst="rect">
            <a:avLst/>
          </a:prstGeom>
          <a:solidFill>
            <a:srgbClr val="146EF5"/>
          </a:solidFill>
          <a:ln w="9525">
            <a:solidFill>
              <a:srgbClr val="146EF5"/>
            </a:solidFill>
          </a:ln>
        </p:spPr>
        <p:txBody>
          <a:bodyPr/>
          <a:lstStyle/>
          <a:p/>
        </p:txBody>
      </p:sp>
      <p:sp>
        <p:nvSpPr>
          <p:cNvPr id="14" name="radar core"/>
          <p:cNvSpPr/>
          <p:nvPr/>
        </p:nvSpPr>
        <p:spPr>
          <a:xfrm>
            <a:off x="4629150" y="3295650"/>
            <a:ext cx="2781300" cy="1371600"/>
          </a:xfrm>
          <a:prstGeom prst="rect">
            <a:avLst/>
          </a:prstGeom>
          <a:solidFill>
            <a:srgbClr val="146EF5"/>
          </a:solidFill>
          <a:ln w="9525">
            <a:solidFill>
              <a:srgbClr val="146EF5"/>
            </a:solidFill>
          </a:ln>
        </p:spPr>
        <p:txBody>
          <a:bodyPr/>
          <a:lstStyle/>
          <a:p/>
        </p:txBody>
      </p:sp>
      <p:sp>
        <p:nvSpPr>
          <p:cNvPr id="15" name="radar core title"/>
          <p:cNvSpPr txBox="1"/>
          <p:nvPr/>
        </p:nvSpPr>
        <p:spPr>
          <a:xfrm>
            <a:off x="4933950" y="356235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2100" b="1">
                <a:solidFill>
                  <a:srgbClr val="FFFFFF"/>
                </a:solidFill>
                <a:latin typeface="Aptos"/>
              </a:rPr>
              <a:t>AI Engineering Radar</a:t>
            </a:r>
            <a:endParaRPr lang="en-US" sz="2100"/>
          </a:p>
        </p:txBody>
      </p:sp>
      <p:sp>
        <p:nvSpPr>
          <p:cNvPr id="16" name="radar core detail"/>
          <p:cNvSpPr txBox="1"/>
          <p:nvPr/>
        </p:nvSpPr>
        <p:spPr>
          <a:xfrm>
            <a:off x="4933950" y="3943350"/>
            <a:ext cx="21907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600">
                <a:solidFill>
                  <a:srgbClr val="EAF3FF"/>
                </a:solidFill>
                <a:latin typeface="Aptos"/>
              </a:rPr>
              <a:t>Analyzes the active file\nand its engineering context</a:t>
            </a:r>
            <a:endParaRPr lang="en-US" sz="1600"/>
          </a:p>
        </p:txBody>
      </p:sp>
      <p:sp>
        <p:nvSpPr>
          <p:cNvPr id="17" name="process line two"/>
          <p:cNvSpPr/>
          <p:nvPr/>
        </p:nvSpPr>
        <p:spPr>
          <a:xfrm>
            <a:off x="7620000" y="3905250"/>
            <a:ext cx="1314450" cy="38100"/>
          </a:xfrm>
          <a:prstGeom prst="rect">
            <a:avLst/>
          </a:prstGeom>
          <a:solidFill>
            <a:srgbClr val="146EF5"/>
          </a:solidFill>
          <a:ln w="9525">
            <a:solidFill>
              <a:srgbClr val="146EF5"/>
            </a:solidFill>
          </a:ln>
        </p:spPr>
        <p:txBody>
          <a:bodyPr/>
          <a:lstStyle/>
          <a:p/>
        </p:txBody>
      </p:sp>
      <p:sp>
        <p:nvSpPr>
          <p:cNvPr id="18" name="output band"/>
          <p:cNvSpPr/>
          <p:nvPr/>
        </p:nvSpPr>
        <p:spPr>
          <a:xfrm>
            <a:off x="9163050" y="2895600"/>
            <a:ext cx="2266950" cy="2076450"/>
          </a:xfrm>
          <a:prstGeom prst="rect">
            <a:avLst/>
          </a:prstGeom>
          <a:solidFill>
            <a:srgbClr val="E9FBF5"/>
          </a:solidFill>
          <a:ln w="9525">
            <a:solidFill>
              <a:srgbClr val="BFEADB"/>
            </a:solidFill>
          </a:ln>
        </p:spPr>
        <p:txBody>
          <a:bodyPr/>
          <a:lstStyle/>
          <a:p/>
        </p:txBody>
      </p:sp>
      <p:sp>
        <p:nvSpPr>
          <p:cNvPr id="19" name="output title"/>
          <p:cNvSpPr txBox="1"/>
          <p:nvPr/>
        </p:nvSpPr>
        <p:spPr>
          <a:xfrm>
            <a:off x="9391650" y="3181350"/>
            <a:ext cx="1733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2000" b="1">
                <a:solidFill>
                  <a:srgbClr val="0B1F3A"/>
                </a:solidFill>
                <a:latin typeface="Aptos"/>
              </a:rPr>
              <a:t>Actionable guidance</a:t>
            </a:r>
            <a:endParaRPr lang="en-US" sz="2000"/>
          </a:p>
        </p:txBody>
      </p:sp>
      <p:sp>
        <p:nvSpPr>
          <p:cNvPr id="20" name="output items"/>
          <p:cNvSpPr txBox="1"/>
          <p:nvPr/>
        </p:nvSpPr>
        <p:spPr>
          <a:xfrm>
            <a:off x="9391650" y="3638550"/>
            <a:ext cx="1733550" cy="990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600">
                <a:solidFill>
                  <a:srgbClr val="222222"/>
                </a:solidFill>
                <a:latin typeface="Aptos"/>
              </a:rPr>
              <a:t>Risk level and signals
Affected areas
Recommended tests
Recommended actions</a:t>
            </a:r>
            <a:endParaRPr lang="en-US" sz="1600"/>
          </a:p>
        </p:txBody>
      </p:sp>
      <p:sp>
        <p:nvSpPr>
          <p:cNvPr id="21" name="workflow caption"/>
          <p:cNvSpPr txBox="1"/>
          <p:nvPr/>
        </p:nvSpPr>
        <p:spPr>
          <a:xfrm>
            <a:off x="1504950" y="5410200"/>
            <a:ext cx="91821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900">
                <a:solidFill>
                  <a:srgbClr val="52657D"/>
                </a:solidFill>
                <a:latin typeface="Aptos"/>
              </a:rPr>
              <a:t>The result is a focused brief, not another dashboard to interpret.</a:t>
            </a:r>
            <a:endParaRPr lang="en-US" sz="1900"/>
          </a:p>
        </p:txBody>
      </p:sp>
      <p:sp>
        <p:nvSpPr>
          <p:cNvPr id="99" name="slide number"/>
          <p:cNvSpPr txBox="1"/>
          <p:nvPr/>
        </p:nvSpPr>
        <p:spPr>
          <a:xfrm>
            <a:off x="10763250" y="6286500"/>
            <a:ext cx="6858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300" b="1">
                <a:solidFill>
                  <a:srgbClr val="6B7A90"/>
                </a:solidFill>
                <a:latin typeface="Aptos"/>
              </a:rPr>
              <a:t>03</a:t>
            </a:r>
            <a:endParaRPr lang="en-US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accent"/>
          <p:cNvSpPr/>
          <p:nvPr/>
        </p:nvSpPr>
        <p:spPr>
          <a:xfrm>
            <a:off x="609600" y="457200"/>
            <a:ext cx="609600" cy="57150"/>
          </a:xfrm>
          <a:prstGeom prst="rect">
            <a:avLst/>
          </a:prstGeom>
          <a:solidFill>
            <a:srgbClr val="146EF5"/>
          </a:solidFill>
          <a:ln w="9525">
            <a:solidFill>
              <a:srgbClr val="146EF5"/>
            </a:solidFill>
          </a:ln>
        </p:spPr>
        <p:txBody>
          <a:bodyPr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09600" y="62865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500" b="1">
                <a:solidFill>
                  <a:srgbClr val="146EF5"/>
                </a:solidFill>
                <a:latin typeface="Aptos"/>
              </a:rPr>
              <a:t>WHY IT MATTERS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609600" y="990600"/>
            <a:ext cx="104775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3000" b="1">
                <a:solidFill>
                  <a:srgbClr val="0B1F3A"/>
                </a:solidFill>
                <a:latin typeface="Aptos"/>
              </a:rPr>
              <a:t>Radar makes the next engineering step easier to see.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609600" y="1866900"/>
            <a:ext cx="98107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800">
                <a:solidFill>
                  <a:srgbClr val="52657D"/>
                </a:solidFill>
                <a:latin typeface="Aptos"/>
              </a:rPr>
              <a:t>The prototype brings repository intelligence into the editor, where the developer is already making decisions.</a:t>
            </a:r>
            <a:endParaRPr lang="en-US" sz="1800"/>
          </a:p>
        </p:txBody>
      </p:sp>
      <p:sp>
        <p:nvSpPr>
          <p:cNvPr id="10" name="value one"/>
          <p:cNvSpPr/>
          <p:nvPr/>
        </p:nvSpPr>
        <p:spPr>
          <a:xfrm>
            <a:off x="609600" y="2990850"/>
            <a:ext cx="3276600" cy="1885950"/>
          </a:xfrm>
          <a:prstGeom prst="rect">
            <a:avLst/>
          </a:prstGeom>
          <a:solidFill>
            <a:srgbClr val="F1F6FC"/>
          </a:solidFill>
          <a:ln w="9525">
            <a:solidFill>
              <a:srgbClr val="D7E3F0"/>
            </a:solidFill>
          </a:ln>
        </p:spPr>
        <p:txBody>
          <a:bodyPr/>
          <a:lstStyle/>
          <a:p/>
        </p:txBody>
      </p:sp>
      <p:sp>
        <p:nvSpPr>
          <p:cNvPr id="11" name="value one number"/>
          <p:cNvSpPr txBox="1"/>
          <p:nvPr/>
        </p:nvSpPr>
        <p:spPr>
          <a:xfrm>
            <a:off x="876300" y="3238500"/>
            <a:ext cx="7239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2800" b="1">
                <a:solidFill>
                  <a:srgbClr val="146EF5"/>
                </a:solidFill>
                <a:latin typeface="Aptos"/>
              </a:rPr>
              <a:t>01</a:t>
            </a:r>
            <a:endParaRPr lang="en-US" sz="2800"/>
          </a:p>
        </p:txBody>
      </p:sp>
      <p:sp>
        <p:nvSpPr>
          <p:cNvPr id="12" name="value one title"/>
          <p:cNvSpPr txBox="1"/>
          <p:nvPr/>
        </p:nvSpPr>
        <p:spPr>
          <a:xfrm>
            <a:off x="876300" y="3752850"/>
            <a:ext cx="2495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2200" b="1">
                <a:solidFill>
                  <a:srgbClr val="0B1F3A"/>
                </a:solidFill>
                <a:latin typeface="Aptos"/>
              </a:rPr>
              <a:t>Orient faster</a:t>
            </a:r>
            <a:endParaRPr lang="en-US" sz="2200"/>
          </a:p>
        </p:txBody>
      </p:sp>
      <p:sp>
        <p:nvSpPr>
          <p:cNvPr id="13" name="value one detail"/>
          <p:cNvSpPr txBox="1"/>
          <p:nvPr/>
        </p:nvSpPr>
        <p:spPr>
          <a:xfrm>
            <a:off x="876300" y="4133850"/>
            <a:ext cx="2628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600">
                <a:solidFill>
                  <a:srgbClr val="52657D"/>
                </a:solidFill>
                <a:latin typeface="Aptos"/>
              </a:rPr>
              <a:t>See recent changes, file history, active contributors, and relevant pull requests in one view.</a:t>
            </a:r>
            <a:endParaRPr lang="en-US" sz="1600"/>
          </a:p>
        </p:txBody>
      </p:sp>
      <p:sp>
        <p:nvSpPr>
          <p:cNvPr id="14" name="value two"/>
          <p:cNvSpPr/>
          <p:nvPr/>
        </p:nvSpPr>
        <p:spPr>
          <a:xfrm>
            <a:off x="4457700" y="2990850"/>
            <a:ext cx="3276600" cy="1885950"/>
          </a:xfrm>
          <a:prstGeom prst="rect">
            <a:avLst/>
          </a:prstGeom>
          <a:solidFill>
            <a:srgbClr val="E9FBF5"/>
          </a:solidFill>
          <a:ln w="9525">
            <a:solidFill>
              <a:srgbClr val="BFEADB"/>
            </a:solidFill>
          </a:ln>
        </p:spPr>
        <p:txBody>
          <a:bodyPr/>
          <a:lstStyle/>
          <a:p/>
        </p:txBody>
      </p:sp>
      <p:sp>
        <p:nvSpPr>
          <p:cNvPr id="15" name="value two number"/>
          <p:cNvSpPr txBox="1"/>
          <p:nvPr/>
        </p:nvSpPr>
        <p:spPr>
          <a:xfrm>
            <a:off x="4724400" y="3238500"/>
            <a:ext cx="7239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2800" b="1">
                <a:solidFill>
                  <a:srgbClr val="0E9F6E"/>
                </a:solidFill>
                <a:latin typeface="Aptos"/>
              </a:rPr>
              <a:t>02</a:t>
            </a:r>
            <a:endParaRPr lang="en-US" sz="2800"/>
          </a:p>
        </p:txBody>
      </p:sp>
      <p:sp>
        <p:nvSpPr>
          <p:cNvPr id="16" name="value two title"/>
          <p:cNvSpPr txBox="1"/>
          <p:nvPr/>
        </p:nvSpPr>
        <p:spPr>
          <a:xfrm>
            <a:off x="4724400" y="3752850"/>
            <a:ext cx="2495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2200" b="1">
                <a:solidFill>
                  <a:srgbClr val="0B1F3A"/>
                </a:solidFill>
                <a:latin typeface="Aptos"/>
              </a:rPr>
              <a:t>Spot risk earlier</a:t>
            </a:r>
            <a:endParaRPr lang="en-US" sz="2200"/>
          </a:p>
        </p:txBody>
      </p:sp>
      <p:sp>
        <p:nvSpPr>
          <p:cNvPr id="17" name="value two detail"/>
          <p:cNvSpPr txBox="1"/>
          <p:nvPr/>
        </p:nvSpPr>
        <p:spPr>
          <a:xfrm>
            <a:off x="4724400" y="4133850"/>
            <a:ext cx="2628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600">
                <a:solidFill>
                  <a:srgbClr val="52657D"/>
                </a:solidFill>
                <a:latin typeface="Aptos"/>
              </a:rPr>
              <a:t>Risk levels and automatic alerts surface potentially risky files before the change grows.</a:t>
            </a:r>
            <a:endParaRPr lang="en-US" sz="1600"/>
          </a:p>
        </p:txBody>
      </p:sp>
      <p:sp>
        <p:nvSpPr>
          <p:cNvPr id="18" name="value three"/>
          <p:cNvSpPr/>
          <p:nvPr/>
        </p:nvSpPr>
        <p:spPr>
          <a:xfrm>
            <a:off x="8305800" y="2990850"/>
            <a:ext cx="3276600" cy="1885950"/>
          </a:xfrm>
          <a:prstGeom prst="rect">
            <a:avLst/>
          </a:prstGeom>
          <a:solidFill>
            <a:srgbClr val="FFF6E8"/>
          </a:solidFill>
          <a:ln w="9525">
            <a:solidFill>
              <a:srgbClr val="F3D79B"/>
            </a:solidFill>
          </a:ln>
        </p:spPr>
        <p:txBody>
          <a:bodyPr/>
          <a:lstStyle/>
          <a:p/>
        </p:txBody>
      </p:sp>
      <p:sp>
        <p:nvSpPr>
          <p:cNvPr id="19" name="value three number"/>
          <p:cNvSpPr txBox="1"/>
          <p:nvPr/>
        </p:nvSpPr>
        <p:spPr>
          <a:xfrm>
            <a:off x="8572500" y="3238500"/>
            <a:ext cx="7239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2800" b="1">
                <a:solidFill>
                  <a:srgbClr val="B7791F"/>
                </a:solidFill>
                <a:latin typeface="Aptos"/>
              </a:rPr>
              <a:t>03</a:t>
            </a:r>
            <a:endParaRPr lang="en-US" sz="2800"/>
          </a:p>
        </p:txBody>
      </p:sp>
      <p:sp>
        <p:nvSpPr>
          <p:cNvPr id="20" name="value three title"/>
          <p:cNvSpPr txBox="1"/>
          <p:nvPr/>
        </p:nvSpPr>
        <p:spPr>
          <a:xfrm>
            <a:off x="8572500" y="3752850"/>
            <a:ext cx="2495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2200" b="1">
                <a:solidFill>
                  <a:srgbClr val="0B1F3A"/>
                </a:solidFill>
                <a:latin typeface="Aptos"/>
              </a:rPr>
              <a:t>Act with direction</a:t>
            </a:r>
            <a:endParaRPr lang="en-US" sz="2200"/>
          </a:p>
        </p:txBody>
      </p:sp>
      <p:sp>
        <p:nvSpPr>
          <p:cNvPr id="21" name="value three detail"/>
          <p:cNvSpPr txBox="1"/>
          <p:nvPr/>
        </p:nvSpPr>
        <p:spPr>
          <a:xfrm>
            <a:off x="8572500" y="4133850"/>
            <a:ext cx="26289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600">
                <a:solidFill>
                  <a:srgbClr val="52657D"/>
                </a:solidFill>
                <a:latin typeface="Aptos"/>
              </a:rPr>
              <a:t>Recommended tests, actions, and an in-panel Radar Agent help turn insight into a next step.</a:t>
            </a:r>
            <a:endParaRPr lang="en-US" sz="1600"/>
          </a:p>
        </p:txBody>
      </p:sp>
      <p:sp>
        <p:nvSpPr>
          <p:cNvPr id="22" name="legacy detail"/>
          <p:cNvSpPr txBox="1"/>
          <p:nvPr/>
        </p:nvSpPr>
        <p:spPr>
          <a:xfrm>
            <a:off x="609600" y="537210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600">
                <a:solidFill>
                  <a:srgbClr val="52657D"/>
                </a:solidFill>
                <a:latin typeface="Aptos"/>
              </a:rPr>
              <a:t>Also included: the original AI merge assistant for conflict detection, explanation, proposal review, and approved application.</a:t>
            </a:r>
            <a:endParaRPr lang="en-US" sz="1600"/>
          </a:p>
        </p:txBody>
      </p:sp>
      <p:sp>
        <p:nvSpPr>
          <p:cNvPr id="99" name="slide number"/>
          <p:cNvSpPr txBox="1"/>
          <p:nvPr/>
        </p:nvSpPr>
        <p:spPr>
          <a:xfrm>
            <a:off x="10763250" y="6286500"/>
            <a:ext cx="6858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300" b="1">
                <a:solidFill>
                  <a:srgbClr val="6B7A90"/>
                </a:solidFill>
                <a:latin typeface="Aptos"/>
              </a:rPr>
              <a:t>04</a:t>
            </a:r>
            <a:endParaRPr lang="en-US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</p:spPr>
        <p:txBody>
          <a:bodyPr/>
          <a:lstStyle/>
          <a:p/>
        </p:txBody>
      </p:sp>
      <p:sp>
        <p:nvSpPr>
          <p:cNvPr id="3" name="closing accent"/>
          <p:cNvSpPr/>
          <p:nvPr/>
        </p:nvSpPr>
        <p:spPr>
          <a:xfrm>
            <a:off x="685800" y="666750"/>
            <a:ext cx="819150" cy="76200"/>
          </a:xfrm>
          <a:prstGeom prst="rect">
            <a:avLst/>
          </a:prstGeom>
          <a:solidFill>
            <a:srgbClr val="10B981"/>
          </a:solidFill>
          <a:ln w="9525">
            <a:solidFill>
              <a:srgbClr val="10B981"/>
            </a:solidFill>
          </a:ln>
        </p:spPr>
        <p:txBody>
          <a:bodyPr/>
          <a:lstStyle/>
          <a:p/>
        </p:txBody>
      </p:sp>
      <p:sp>
        <p:nvSpPr>
          <p:cNvPr id="4" name="closing label"/>
          <p:cNvSpPr txBox="1"/>
          <p:nvPr/>
        </p:nvSpPr>
        <p:spPr>
          <a:xfrm>
            <a:off x="685800" y="9525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500" b="1">
                <a:solidFill>
                  <a:srgbClr val="7CE7C0"/>
                </a:solidFill>
                <a:latin typeface="Aptos"/>
              </a:rPr>
              <a:t>DEMO AND CLOSE</a:t>
            </a:r>
            <a:endParaRPr lang="en-US" sz="1500"/>
          </a:p>
        </p:txBody>
      </p:sp>
      <p:sp>
        <p:nvSpPr>
          <p:cNvPr id="5" name="closing title"/>
          <p:cNvSpPr txBox="1"/>
          <p:nvPr/>
        </p:nvSpPr>
        <p:spPr>
          <a:xfrm>
            <a:off x="685800" y="1428750"/>
            <a:ext cx="95250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4200" b="1">
                <a:solidFill>
                  <a:srgbClr val="FFFFFF"/>
                </a:solidFill>
                <a:latin typeface="Aptos"/>
              </a:rPr>
              <a:t>From file to informed decision in one workflow.</a:t>
            </a:r>
            <a:endParaRPr lang="en-US" sz="4200"/>
          </a:p>
        </p:txBody>
      </p:sp>
      <p:sp>
        <p:nvSpPr>
          <p:cNvPr id="6" name="closing subtitle"/>
          <p:cNvSpPr txBox="1"/>
          <p:nvPr/>
        </p:nvSpPr>
        <p:spPr>
          <a:xfrm>
            <a:off x="685800" y="2266950"/>
            <a:ext cx="85725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2000">
                <a:solidFill>
                  <a:srgbClr val="C4D7EB"/>
                </a:solidFill>
                <a:latin typeface="Aptos"/>
              </a:rPr>
              <a:t>Open a tracked source file, run the command, and let Radar bring the relevant engineering context into view.</a:t>
            </a:r>
            <a:endParaRPr lang="en-US" sz="2000"/>
          </a:p>
        </p:txBody>
      </p:sp>
      <p:sp>
        <p:nvSpPr>
          <p:cNvPr id="7" name="demo step 1"/>
          <p:cNvSpPr/>
          <p:nvPr/>
        </p:nvSpPr>
        <p:spPr>
          <a:xfrm>
            <a:off x="685800" y="3333750"/>
            <a:ext cx="2857500" cy="1104900"/>
          </a:xfrm>
          <a:prstGeom prst="rect">
            <a:avLst/>
          </a:prstGeom>
          <a:solidFill>
            <a:srgbClr val="153657"/>
          </a:solidFill>
          <a:ln w="9525">
            <a:solidFill>
              <a:srgbClr val="31506F"/>
            </a:solidFill>
          </a:ln>
        </p:spPr>
        <p:txBody>
          <a:bodyPr/>
          <a:lstStyle/>
          <a:p/>
        </p:txBody>
      </p:sp>
      <p:sp>
        <p:nvSpPr>
          <p:cNvPr id="8" name="demo step 1 title"/>
          <p:cNvSpPr txBox="1"/>
          <p:nvPr/>
        </p:nvSpPr>
        <p:spPr>
          <a:xfrm>
            <a:off x="914400" y="3562350"/>
            <a:ext cx="2305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"/>
              </a:rPr>
              <a:t>01  Open a source file</a:t>
            </a:r>
            <a:endParaRPr lang="en-US" sz="1800"/>
          </a:p>
        </p:txBody>
      </p:sp>
      <p:sp>
        <p:nvSpPr>
          <p:cNvPr id="9" name="demo step 1 detail"/>
          <p:cNvSpPr txBox="1"/>
          <p:nvPr/>
        </p:nvSpPr>
        <p:spPr>
          <a:xfrm>
            <a:off x="914400" y="3905250"/>
            <a:ext cx="2343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500">
                <a:solidFill>
                  <a:srgbClr val="B9CDE2"/>
                </a:solidFill>
                <a:latin typeface="Aptos"/>
              </a:rPr>
              <a:t>Work inside any Git repository.</a:t>
            </a:r>
            <a:endParaRPr lang="en-US" sz="1500"/>
          </a:p>
        </p:txBody>
      </p:sp>
      <p:sp>
        <p:nvSpPr>
          <p:cNvPr id="10" name="demo step 2"/>
          <p:cNvSpPr/>
          <p:nvPr/>
        </p:nvSpPr>
        <p:spPr>
          <a:xfrm>
            <a:off x="4057650" y="3333750"/>
            <a:ext cx="2857500" cy="1104900"/>
          </a:xfrm>
          <a:prstGeom prst="rect">
            <a:avLst/>
          </a:prstGeom>
          <a:solidFill>
            <a:srgbClr val="153657"/>
          </a:solidFill>
          <a:ln w="9525">
            <a:solidFill>
              <a:srgbClr val="31506F"/>
            </a:solidFill>
          </a:ln>
        </p:spPr>
        <p:txBody>
          <a:bodyPr/>
          <a:lstStyle/>
          <a:p/>
        </p:txBody>
      </p:sp>
      <p:sp>
        <p:nvSpPr>
          <p:cNvPr id="11" name="demo step 2 title"/>
          <p:cNvSpPr txBox="1"/>
          <p:nvPr/>
        </p:nvSpPr>
        <p:spPr>
          <a:xfrm>
            <a:off x="4286250" y="3562350"/>
            <a:ext cx="2305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"/>
              </a:rPr>
              <a:t>02  Analyze Current File</a:t>
            </a:r>
            <a:endParaRPr lang="en-US" sz="1800"/>
          </a:p>
        </p:txBody>
      </p:sp>
      <p:sp>
        <p:nvSpPr>
          <p:cNvPr id="12" name="demo step 2 detail"/>
          <p:cNvSpPr txBox="1"/>
          <p:nvPr/>
        </p:nvSpPr>
        <p:spPr>
          <a:xfrm>
            <a:off x="4286250" y="3905250"/>
            <a:ext cx="2343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500">
                <a:solidFill>
                  <a:srgbClr val="B9CDE2"/>
                </a:solidFill>
                <a:latin typeface="Aptos"/>
              </a:rPr>
              <a:t>Radar gathers Git and optional GitHub context.</a:t>
            </a:r>
            <a:endParaRPr lang="en-US" sz="1500"/>
          </a:p>
        </p:txBody>
      </p:sp>
      <p:sp>
        <p:nvSpPr>
          <p:cNvPr id="13" name="demo step 3"/>
          <p:cNvSpPr/>
          <p:nvPr/>
        </p:nvSpPr>
        <p:spPr>
          <a:xfrm>
            <a:off x="7429500" y="3333750"/>
            <a:ext cx="2857500" cy="1104900"/>
          </a:xfrm>
          <a:prstGeom prst="rect">
            <a:avLst/>
          </a:prstGeom>
          <a:solidFill>
            <a:srgbClr val="153657"/>
          </a:solidFill>
          <a:ln w="9525">
            <a:solidFill>
              <a:srgbClr val="31506F"/>
            </a:solidFill>
          </a:ln>
        </p:spPr>
        <p:txBody>
          <a:bodyPr/>
          <a:lstStyle/>
          <a:p/>
        </p:txBody>
      </p:sp>
      <p:sp>
        <p:nvSpPr>
          <p:cNvPr id="14" name="demo step 3 title"/>
          <p:cNvSpPr txBox="1"/>
          <p:nvPr/>
        </p:nvSpPr>
        <p:spPr>
          <a:xfrm>
            <a:off x="7658100" y="3562350"/>
            <a:ext cx="2305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"/>
              </a:rPr>
              <a:t>03  Make the next move</a:t>
            </a:r>
            <a:endParaRPr lang="en-US" sz="1800"/>
          </a:p>
        </p:txBody>
      </p:sp>
      <p:sp>
        <p:nvSpPr>
          <p:cNvPr id="15" name="demo step 3 detail"/>
          <p:cNvSpPr txBox="1"/>
          <p:nvPr/>
        </p:nvSpPr>
        <p:spPr>
          <a:xfrm>
            <a:off x="7658100" y="3905250"/>
            <a:ext cx="2343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500">
                <a:solidFill>
                  <a:srgbClr val="B9CDE2"/>
                </a:solidFill>
                <a:latin typeface="Aptos"/>
              </a:rPr>
              <a:t>Review risk, read the right PR, run the right test.</a:t>
            </a:r>
            <a:endParaRPr lang="en-US" sz="1500"/>
          </a:p>
        </p:txBody>
      </p:sp>
      <p:sp>
        <p:nvSpPr>
          <p:cNvPr id="16" name="closing rule"/>
          <p:cNvSpPr/>
          <p:nvPr/>
        </p:nvSpPr>
        <p:spPr>
          <a:xfrm>
            <a:off x="685800" y="5219700"/>
            <a:ext cx="9601200" cy="19050"/>
          </a:xfrm>
          <a:prstGeom prst="rect">
            <a:avLst/>
          </a:prstGeom>
          <a:solidFill>
            <a:srgbClr val="31506F"/>
          </a:solidFill>
          <a:ln w="9525">
            <a:solidFill>
              <a:srgbClr val="31506F"/>
            </a:solidFill>
          </a:ln>
        </p:spPr>
        <p:txBody>
          <a:bodyPr/>
          <a:lstStyle/>
          <a:p/>
        </p:txBody>
      </p:sp>
      <p:sp>
        <p:nvSpPr>
          <p:cNvPr id="17" name="closing statement"/>
          <p:cNvSpPr txBox="1"/>
          <p:nvPr/>
        </p:nvSpPr>
        <p:spPr>
          <a:xfrm>
            <a:off x="685800" y="5543550"/>
            <a:ext cx="89535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"/>
              </a:rPr>
              <a:t>AI Engineering Radar makes context visible before code changes.</a:t>
            </a:r>
            <a:endParaRPr lang="en-US" sz="2400"/>
          </a:p>
        </p:txBody>
      </p:sp>
      <p:sp>
        <p:nvSpPr>
          <p:cNvPr id="18" name="questions"/>
          <p:cNvSpPr txBox="1"/>
          <p:nvPr/>
        </p:nvSpPr>
        <p:spPr>
          <a:xfrm>
            <a:off x="685800" y="6076950"/>
            <a:ext cx="3333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700" b="1">
                <a:solidFill>
                  <a:srgbClr val="7CE7C0"/>
                </a:solidFill>
                <a:latin typeface="Aptos"/>
              </a:rPr>
              <a:t>Thank you | Questions?</a:t>
            </a:r>
            <a:endParaRPr lang="en-US" sz="1700"/>
          </a:p>
        </p:txBody>
      </p:sp>
      <p:sp>
        <p:nvSpPr>
          <p:cNvPr id="99" name="slide number"/>
          <p:cNvSpPr txBox="1"/>
          <p:nvPr/>
        </p:nvSpPr>
        <p:spPr>
          <a:xfrm>
            <a:off x="10763250" y="6286500"/>
            <a:ext cx="6858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rPr lang="en-US" sz="1300" b="1">
                <a:solidFill>
                  <a:srgbClr val="8FA8C4"/>
                </a:solidFill>
                <a:latin typeface="Aptos"/>
              </a:rPr>
              <a:t>05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kathon Clean">
  <a:themeElements>
    <a:clrScheme name="Hackathon Clean">
      <a:dk1>
        <a:srgbClr val="111111"/>
      </a:dk1>
      <a:lt1>
        <a:srgbClr val="FFFFFF"/>
      </a:lt1>
      <a:dk2>
        <a:srgbClr val="222222"/>
      </a:dk2>
      <a:lt2>
        <a:srgbClr val="F3F6F8"/>
      </a:lt2>
      <a:accent1>
        <a:srgbClr val="3D8DFF"/>
      </a:accent1>
      <a:accent2>
        <a:srgbClr val="6DCBF4"/>
      </a:accent2>
      <a:accent3>
        <a:srgbClr val="7D8794"/>
      </a:accent3>
      <a:accent4>
        <a:srgbClr val="D6DCE2"/>
      </a:accent4>
      <a:accent5>
        <a:srgbClr val="111111"/>
      </a:accent5>
      <a:accent6>
        <a:srgbClr val="555555"/>
      </a:accent6>
      <a:hlink>
        <a:srgbClr val="3D8DFF"/>
      </a:hlink>
      <a:folHlink>
        <a:srgbClr val="3D8DFF"/>
      </a:folHlink>
    </a:clrScheme>
    <a:fontScheme name="Aptos">
      <a:majorFont>
        <a:latin typeface="Aptos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Hackathon Ending Slide Deck</dc:title>
  <dc:creator>Codex</dc:creator>
  <cp:lastModifiedBy>Codex</cp:lastModifiedBy>
  <dcterms:created xsi:type="dcterms:W3CDTF">2026-07-19T00:00:00Z</dcterms:created>
  <dcterms:modified xsi:type="dcterms:W3CDTF">2026-07-19T00:00:00Z</dcterms:modified>
</cp:coreProperties>
</file>